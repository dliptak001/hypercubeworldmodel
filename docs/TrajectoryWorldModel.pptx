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86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386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03F9D-A3F9-1DBB-065A-CE48177A35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BC540-BA26-9DE7-4337-AB4BD36C3A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734C5-F59C-83AF-33EC-56949D66E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E34DD-69E5-4268-AC54-29339A0D5D50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06AC7-CB3B-6D0B-39BF-B1550114C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FEB4C-4401-78C6-5EE1-603E5836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F59C8-E75C-40FE-AFA3-629BD5F98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03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F09C9-9366-A804-CDBB-8ECF615FF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014CD-5E6B-E7E8-42D9-D442A39A5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B14B8-ACBE-D80D-1DA0-C9B1A61AD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E34DD-69E5-4268-AC54-29339A0D5D50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96E4D-1EE6-01B6-F44C-6C6AB647F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76D88-C7C9-A7A7-9447-08F715D6A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F59C8-E75C-40FE-AFA3-629BD5F98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226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E5E5F-D562-2EFA-D19D-1CE668079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BA5A7-763F-4F47-ADAD-7105E7BD9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B3350-C84E-48FE-BDF0-449896A5D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E34DD-69E5-4268-AC54-29339A0D5D50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D3413-D8C5-A3FD-2726-FB2C35EAC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3360B-01D4-62B0-F573-0A2730476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F59C8-E75C-40FE-AFA3-629BD5F98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490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86097-05DF-0588-95CB-84070DEBB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1ECF2-24AD-B3FF-832A-00368A01FD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70E758-242F-9674-A58B-79BA57C6A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93DD5D-5E25-B32D-CF70-33BEAC89C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E34DD-69E5-4268-AC54-29339A0D5D50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97B07-D98C-0693-61A6-4E94F3F4B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586C59-4F4B-3788-94E1-80E74DE02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F59C8-E75C-40FE-AFA3-629BD5F98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14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D74BD-CAA3-E35C-B34C-25E339AE9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D474C-425C-74A7-8907-83FB3C5AA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E6AF7C-F4CA-20AE-6D08-47EF6F880B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EE8596-590E-FC22-1C46-BE884D71CA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FA5157-E620-6A22-42D0-C7D8519D22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6D4069-F749-6F3A-8C65-C40A6A0C7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E34DD-69E5-4268-AC54-29339A0D5D50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082DF-0173-A7A2-21CA-98EFA3127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2D0085-CA3E-00BB-EE94-5C57EF8D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F59C8-E75C-40FE-AFA3-629BD5F98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732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82A16-E871-8D8A-A307-F515D0020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B0F3F9-E62F-BBFA-8B77-6432F2DED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E34DD-69E5-4268-AC54-29339A0D5D50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6F91CB-BA30-E86E-D9EA-CB3AFF846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234474-0298-BE18-C2DA-ABC0266A6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F59C8-E75C-40FE-AFA3-629BD5F98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816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C77D82-F0CD-3673-D6E9-12FF44FA0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E34DD-69E5-4268-AC54-29339A0D5D50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CC3F2D-D3E2-329F-0795-6AAA70BF7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E6E22-168B-D0A6-2F61-8250E418B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F59C8-E75C-40FE-AFA3-629BD5F98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461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323C4-5530-88F8-6BE0-9116CBA87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B377D-9A95-64E9-FE84-6B8CB51B0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C808DB-B9DE-6795-BABF-0B7B9CDC0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FA6B78-DD82-BF1F-4F45-9D5B7AD62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E34DD-69E5-4268-AC54-29339A0D5D50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6DBAF-E2EC-6861-5D06-F782463EB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A340B-6C89-A7AD-D4AC-419A76B1A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F59C8-E75C-40FE-AFA3-629BD5F98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7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D7BEE-6467-8054-E6EE-D56E58CFE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C4598B-4566-FC55-CD27-9C8127246A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26B87D-1911-11F4-15C2-30AC13BCB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F2DCF-F98F-19A6-4F62-842A36F65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E34DD-69E5-4268-AC54-29339A0D5D50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3B38A-B9E6-701F-9C13-8CF5BCA8B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08F310-548E-AED3-8BC4-3B75A43DD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F59C8-E75C-40FE-AFA3-629BD5F98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883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01334-8CB7-62AC-AC56-7F5F84640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E6F35C-6BF8-97BC-206F-964F28F692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D2E17-B78A-F56E-9CBE-E6BA09856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E34DD-69E5-4268-AC54-29339A0D5D50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010A4-AAD1-FCD5-8D4C-07E6510A7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2A98F-C870-B566-3235-AA8D1678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F59C8-E75C-40FE-AFA3-629BD5F98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079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27AA8E-DC60-B368-4C71-6ABA1383C2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64B807-5E3C-3F4F-1774-2FDC83013B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DBA78-8C74-B711-B5F2-A8C5002C4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E34DD-69E5-4268-AC54-29339A0D5D50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D0E12-96FC-5732-EFCB-AE682250E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59E48-57CF-7508-DD2C-8E0081165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F59C8-E75C-40FE-AFA3-629BD5F98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734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7EE6AA-FED7-0CCB-F542-D551813D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01DA0D-9D17-CD31-4778-D054D32E3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92D80-883A-4547-4E17-6613ECAD55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DE34DD-69E5-4268-AC54-29339A0D5D50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F3CDD-64F9-832B-5B43-B1EA710DF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FB306-0123-D60D-3C1C-778D5F39C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3F59C8-E75C-40FE-AFA3-629BD5F98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6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0DF28-37E1-8C97-35D4-2F3610AFA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0BD42FF-7F8C-C479-0CD1-EFAC6C2203F0}"/>
              </a:ext>
            </a:extLst>
          </p:cNvPr>
          <p:cNvCxnSpPr/>
          <p:nvPr/>
        </p:nvCxnSpPr>
        <p:spPr>
          <a:xfrm>
            <a:off x="1588540" y="1844762"/>
            <a:ext cx="0" cy="3990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5ADA5ED-F964-8A81-3088-E58533D3A630}"/>
              </a:ext>
            </a:extLst>
          </p:cNvPr>
          <p:cNvCxnSpPr/>
          <p:nvPr/>
        </p:nvCxnSpPr>
        <p:spPr>
          <a:xfrm>
            <a:off x="3789421" y="1844762"/>
            <a:ext cx="0" cy="3990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238B33F-3301-85AF-52E3-ADBA47E8C55B}"/>
              </a:ext>
            </a:extLst>
          </p:cNvPr>
          <p:cNvCxnSpPr/>
          <p:nvPr/>
        </p:nvCxnSpPr>
        <p:spPr>
          <a:xfrm>
            <a:off x="5977686" y="1844762"/>
            <a:ext cx="0" cy="3990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74031DF-D101-3770-CB5C-BDACAC909194}"/>
              </a:ext>
            </a:extLst>
          </p:cNvPr>
          <p:cNvSpPr txBox="1"/>
          <p:nvPr/>
        </p:nvSpPr>
        <p:spPr>
          <a:xfrm>
            <a:off x="3035304" y="3822470"/>
            <a:ext cx="15082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/>
              <a:t>lat_trajectory</a:t>
            </a:r>
            <a:r>
              <a:rPr lang="en-US" sz="1600" baseline="-25000" dirty="0" err="1"/>
              <a:t>n</a:t>
            </a:r>
            <a:endParaRPr lang="en-US" sz="16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607BCA5-696C-F60F-D4CC-130C02678470}"/>
              </a:ext>
            </a:extLst>
          </p:cNvPr>
          <p:cNvCxnSpPr>
            <a:cxnSpLocks/>
            <a:stCxn id="120" idx="4"/>
            <a:endCxn id="6" idx="0"/>
          </p:cNvCxnSpPr>
          <p:nvPr/>
        </p:nvCxnSpPr>
        <p:spPr>
          <a:xfrm>
            <a:off x="3789421" y="3578825"/>
            <a:ext cx="0" cy="243645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FE42EBEA-1D4E-F320-12B6-603369DC86CF}"/>
              </a:ext>
            </a:extLst>
          </p:cNvPr>
          <p:cNvSpPr txBox="1"/>
          <p:nvPr/>
        </p:nvSpPr>
        <p:spPr>
          <a:xfrm>
            <a:off x="3607821" y="753291"/>
            <a:ext cx="3738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o</a:t>
            </a:r>
            <a:r>
              <a:rPr lang="en-US" sz="1600" baseline="-25000" dirty="0"/>
              <a:t>n</a:t>
            </a:r>
            <a:endParaRPr lang="en-US" sz="1600" dirty="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19D1B21-1D4E-9C3E-E54B-95A6BFD80E3D}"/>
              </a:ext>
            </a:extLst>
          </p:cNvPr>
          <p:cNvCxnSpPr>
            <a:cxnSpLocks/>
            <a:stCxn id="51" idx="2"/>
            <a:endCxn id="30" idx="0"/>
          </p:cNvCxnSpPr>
          <p:nvPr/>
        </p:nvCxnSpPr>
        <p:spPr>
          <a:xfrm flipH="1">
            <a:off x="3794726" y="1091845"/>
            <a:ext cx="5" cy="293194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>
            <a:extLst>
              <a:ext uri="{FF2B5EF4-FFF2-40B4-BE49-F238E27FC236}">
                <a16:creationId xmlns:a16="http://schemas.microsoft.com/office/drawing/2014/main" id="{053E3E3C-2A48-5567-012F-E8C13707590F}"/>
              </a:ext>
            </a:extLst>
          </p:cNvPr>
          <p:cNvSpPr/>
          <p:nvPr/>
        </p:nvSpPr>
        <p:spPr>
          <a:xfrm>
            <a:off x="1990342" y="3206386"/>
            <a:ext cx="3598157" cy="372439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LCN (trajectory predictor)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5D2784D3-FF89-FC5A-10F3-96905FDB78CD}"/>
              </a:ext>
            </a:extLst>
          </p:cNvPr>
          <p:cNvCxnSpPr>
            <a:cxnSpLocks/>
            <a:stCxn id="120" idx="6"/>
            <a:endCxn id="75" idx="0"/>
          </p:cNvCxnSpPr>
          <p:nvPr/>
        </p:nvCxnSpPr>
        <p:spPr>
          <a:xfrm flipV="1">
            <a:off x="5588499" y="1385038"/>
            <a:ext cx="397067" cy="2007568"/>
          </a:xfrm>
          <a:prstGeom prst="bentConnector4">
            <a:avLst>
              <a:gd name="adj1" fmla="val 415978"/>
              <a:gd name="adj2" fmla="val 11138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DF9D3F5-96B0-A71F-F523-2D77EC8127BD}"/>
              </a:ext>
            </a:extLst>
          </p:cNvPr>
          <p:cNvSpPr txBox="1"/>
          <p:nvPr/>
        </p:nvSpPr>
        <p:spPr>
          <a:xfrm>
            <a:off x="9098368" y="546279"/>
            <a:ext cx="5245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o</a:t>
            </a:r>
            <a:r>
              <a:rPr lang="en-US" sz="1600" baseline="-25000" dirty="0"/>
              <a:t>n+1</a:t>
            </a:r>
            <a:endParaRPr lang="en-US" sz="1600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B146F99-26BB-09CD-5294-694B400FA366}"/>
              </a:ext>
            </a:extLst>
          </p:cNvPr>
          <p:cNvCxnSpPr>
            <a:cxnSpLocks/>
            <a:endCxn id="92" idx="0"/>
          </p:cNvCxnSpPr>
          <p:nvPr/>
        </p:nvCxnSpPr>
        <p:spPr>
          <a:xfrm>
            <a:off x="9604462" y="884833"/>
            <a:ext cx="0" cy="293193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DDB8BD6-976C-D2E2-0304-BEA8BE7CCD9B}"/>
              </a:ext>
            </a:extLst>
          </p:cNvPr>
          <p:cNvCxnSpPr>
            <a:cxnSpLocks/>
            <a:stCxn id="92" idx="2"/>
            <a:endCxn id="61" idx="0"/>
          </p:cNvCxnSpPr>
          <p:nvPr/>
        </p:nvCxnSpPr>
        <p:spPr>
          <a:xfrm flipH="1">
            <a:off x="9604461" y="1770921"/>
            <a:ext cx="1" cy="2993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A1537287-208B-D213-CC6E-5B83E7568C12}"/>
              </a:ext>
            </a:extLst>
          </p:cNvPr>
          <p:cNvSpPr txBox="1"/>
          <p:nvPr/>
        </p:nvSpPr>
        <p:spPr>
          <a:xfrm>
            <a:off x="8776606" y="2070283"/>
            <a:ext cx="1655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lat_trajectory</a:t>
            </a:r>
            <a:r>
              <a:rPr lang="en-US" sz="1600" baseline="-25000" dirty="0"/>
              <a:t>n+1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A9F86E6-4D76-D936-F128-49A29F5E4412}"/>
              </a:ext>
            </a:extLst>
          </p:cNvPr>
          <p:cNvSpPr txBox="1"/>
          <p:nvPr/>
        </p:nvSpPr>
        <p:spPr>
          <a:xfrm>
            <a:off x="7670034" y="3587939"/>
            <a:ext cx="3970290" cy="307777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predictor_err</a:t>
            </a:r>
            <a:r>
              <a:rPr lang="en-US" sz="1400" dirty="0"/>
              <a:t> = </a:t>
            </a:r>
            <a:r>
              <a:rPr lang="en-US" sz="1400" b="1" dirty="0"/>
              <a:t>lat_trajectory</a:t>
            </a:r>
            <a:r>
              <a:rPr lang="en-US" sz="1400" baseline="-25000" dirty="0"/>
              <a:t>n+1 </a:t>
            </a:r>
            <a:r>
              <a:rPr lang="en-US" sz="1400" dirty="0"/>
              <a:t>– </a:t>
            </a:r>
            <a:r>
              <a:rPr lang="en-US" sz="1400" b="1" dirty="0"/>
              <a:t>lat_trajectory</a:t>
            </a:r>
            <a:r>
              <a:rPr lang="en-US" sz="1400" baseline="-25000" dirty="0"/>
              <a:t>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48C489-8210-2063-CF35-C9F49EAA7466}"/>
              </a:ext>
            </a:extLst>
          </p:cNvPr>
          <p:cNvSpPr txBox="1"/>
          <p:nvPr/>
        </p:nvSpPr>
        <p:spPr>
          <a:xfrm>
            <a:off x="1399977" y="753291"/>
            <a:ext cx="4078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</a:t>
            </a:r>
            <a:r>
              <a:rPr lang="en-US" sz="1600" baseline="-25000" dirty="0"/>
              <a:t>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80B96A-E603-95C3-EE70-4C61F99D098E}"/>
              </a:ext>
            </a:extLst>
          </p:cNvPr>
          <p:cNvCxnSpPr>
            <a:cxnSpLocks/>
            <a:stCxn id="19" idx="2"/>
            <a:endCxn id="4" idx="0"/>
          </p:cNvCxnSpPr>
          <p:nvPr/>
        </p:nvCxnSpPr>
        <p:spPr>
          <a:xfrm>
            <a:off x="1603895" y="1091845"/>
            <a:ext cx="1" cy="293194"/>
          </a:xfrm>
          <a:prstGeom prst="straightConnector1">
            <a:avLst/>
          </a:prstGeom>
          <a:ln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A45CA4E-4B5B-42D5-0F6E-D0C2C5DACC3A}"/>
              </a:ext>
            </a:extLst>
          </p:cNvPr>
          <p:cNvSpPr/>
          <p:nvPr/>
        </p:nvSpPr>
        <p:spPr>
          <a:xfrm>
            <a:off x="577850" y="2225762"/>
            <a:ext cx="6433751" cy="653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WTF</a:t>
            </a:r>
          </a:p>
          <a:p>
            <a:pPr algn="ctr"/>
            <a:r>
              <a:rPr lang="en-US" sz="1600" dirty="0"/>
              <a:t>(trajectory aggregator)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2FAE6C3-1948-567F-171C-C21DE49D400D}"/>
              </a:ext>
            </a:extLst>
          </p:cNvPr>
          <p:cNvCxnSpPr>
            <a:cxnSpLocks/>
            <a:stCxn id="22" idx="2"/>
            <a:endCxn id="120" idx="0"/>
          </p:cNvCxnSpPr>
          <p:nvPr/>
        </p:nvCxnSpPr>
        <p:spPr>
          <a:xfrm flipH="1">
            <a:off x="3789421" y="2879362"/>
            <a:ext cx="5305" cy="327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8D873DA-9E67-A11C-C6F2-B720C5237534}"/>
              </a:ext>
            </a:extLst>
          </p:cNvPr>
          <p:cNvSpPr/>
          <p:nvPr/>
        </p:nvSpPr>
        <p:spPr>
          <a:xfrm>
            <a:off x="577851" y="1385039"/>
            <a:ext cx="2052089" cy="5928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ESN</a:t>
            </a:r>
            <a:r>
              <a:rPr lang="en-US" sz="1600" baseline="-25000" dirty="0" err="1"/>
              <a:t>a</a:t>
            </a:r>
            <a:endParaRPr lang="en-US" sz="1600" baseline="-25000" dirty="0"/>
          </a:p>
          <a:p>
            <a:pPr algn="ctr"/>
            <a:r>
              <a:rPr lang="en-US" sz="1600" dirty="0"/>
              <a:t>(trajectory encoder)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558BE27-E3F0-DB90-5D97-D29A852D3332}"/>
              </a:ext>
            </a:extLst>
          </p:cNvPr>
          <p:cNvSpPr/>
          <p:nvPr/>
        </p:nvSpPr>
        <p:spPr>
          <a:xfrm>
            <a:off x="2768681" y="1385039"/>
            <a:ext cx="2052089" cy="5928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ESN</a:t>
            </a:r>
            <a:r>
              <a:rPr lang="en-US" sz="1600" baseline="-25000" dirty="0" err="1"/>
              <a:t>o</a:t>
            </a:r>
            <a:endParaRPr lang="en-US" sz="1600" baseline="-25000" dirty="0"/>
          </a:p>
          <a:p>
            <a:pPr algn="ctr"/>
            <a:r>
              <a:rPr lang="en-US" sz="1600" dirty="0"/>
              <a:t>(trajectory encoder)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F2B2208C-0D35-7BC9-FAC0-2E65D75BCC48}"/>
              </a:ext>
            </a:extLst>
          </p:cNvPr>
          <p:cNvSpPr/>
          <p:nvPr/>
        </p:nvSpPr>
        <p:spPr>
          <a:xfrm>
            <a:off x="4959521" y="1385038"/>
            <a:ext cx="2052089" cy="5928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ESN</a:t>
            </a:r>
            <a:r>
              <a:rPr lang="en-US" sz="1600" baseline="-25000" dirty="0" err="1"/>
              <a:t>f</a:t>
            </a:r>
            <a:endParaRPr lang="en-US" sz="1600" baseline="-25000" dirty="0"/>
          </a:p>
          <a:p>
            <a:pPr algn="ctr"/>
            <a:r>
              <a:rPr lang="en-US" sz="1600" dirty="0"/>
              <a:t>(trajectory encoder)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BE0890E2-BB62-F8F2-124D-3EEAFE70CCF7}"/>
              </a:ext>
            </a:extLst>
          </p:cNvPr>
          <p:cNvSpPr/>
          <p:nvPr/>
        </p:nvSpPr>
        <p:spPr>
          <a:xfrm>
            <a:off x="8578417" y="1178026"/>
            <a:ext cx="2052089" cy="592895"/>
          </a:xfrm>
          <a:prstGeom prst="roundRect">
            <a:avLst/>
          </a:prstGeom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ESN</a:t>
            </a:r>
            <a:r>
              <a:rPr lang="en-US" sz="1600" baseline="-25000" dirty="0" err="1"/>
              <a:t>o</a:t>
            </a:r>
            <a:endParaRPr lang="en-US" sz="1600" baseline="-25000" dirty="0"/>
          </a:p>
          <a:p>
            <a:pPr algn="ctr"/>
            <a:r>
              <a:rPr lang="en-US" sz="1600" dirty="0"/>
              <a:t>(trajectory encoder)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4792BC9-0F2A-E3A6-EAE4-A9BEC83D05BA}"/>
              </a:ext>
            </a:extLst>
          </p:cNvPr>
          <p:cNvSpPr txBox="1"/>
          <p:nvPr/>
        </p:nvSpPr>
        <p:spPr>
          <a:xfrm>
            <a:off x="302764" y="5557286"/>
            <a:ext cx="1077163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1" dirty="0"/>
              <a:t>Encoder</a:t>
            </a:r>
            <a:r>
              <a:rPr lang="en-US" sz="1400" dirty="0"/>
              <a:t> evolves an encoded trajectory.  History maintained.  It does not simply encode a state.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1" dirty="0"/>
              <a:t>Aggregator</a:t>
            </a:r>
            <a:r>
              <a:rPr lang="en-US" sz="1400" dirty="0"/>
              <a:t> combines three encoded trajectories into a fully mixed, unified encoding.  Resets on each pass.  History not maintained.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1" dirty="0"/>
              <a:t>Predictor</a:t>
            </a:r>
            <a:r>
              <a:rPr lang="en-US" sz="1400" dirty="0"/>
              <a:t> proposes trajectories in latent space.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1" dirty="0"/>
              <a:t>Decoder</a:t>
            </a:r>
            <a:r>
              <a:rPr lang="en-US" sz="1400" dirty="0"/>
              <a:t> extracts a real-world state from a latent space trajectory.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There are two feedback loops.  One in latent space,  the other in real space.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947842FF-DE8C-8B66-304E-C6C6A97D8996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789421" y="4161024"/>
            <a:ext cx="0" cy="2147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69CFE895-D109-0FC7-A403-836B71CF44CF}"/>
              </a:ext>
            </a:extLst>
          </p:cNvPr>
          <p:cNvSpPr txBox="1"/>
          <p:nvPr/>
        </p:nvSpPr>
        <p:spPr>
          <a:xfrm>
            <a:off x="3498122" y="5033164"/>
            <a:ext cx="5825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o’</a:t>
            </a:r>
            <a:r>
              <a:rPr lang="en-US" sz="1600" baseline="-25000" dirty="0"/>
              <a:t>n+1</a:t>
            </a:r>
            <a:endParaRPr lang="en-US" sz="1600" dirty="0"/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4DECBE4B-1B54-9E78-A0FA-9CBB9092A426}"/>
              </a:ext>
            </a:extLst>
          </p:cNvPr>
          <p:cNvCxnSpPr>
            <a:cxnSpLocks/>
            <a:stCxn id="141" idx="4"/>
            <a:endCxn id="124" idx="0"/>
          </p:cNvCxnSpPr>
          <p:nvPr/>
        </p:nvCxnSpPr>
        <p:spPr>
          <a:xfrm flipH="1">
            <a:off x="3789420" y="4765634"/>
            <a:ext cx="1" cy="2675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Oval 140">
            <a:extLst>
              <a:ext uri="{FF2B5EF4-FFF2-40B4-BE49-F238E27FC236}">
                <a16:creationId xmlns:a16="http://schemas.microsoft.com/office/drawing/2014/main" id="{C7CA36F6-17F5-FAAA-2BFA-BCA4CC7557EA}"/>
              </a:ext>
            </a:extLst>
          </p:cNvPr>
          <p:cNvSpPr/>
          <p:nvPr/>
        </p:nvSpPr>
        <p:spPr>
          <a:xfrm>
            <a:off x="1990342" y="4393195"/>
            <a:ext cx="3598157" cy="372439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LCN (decoder)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3BDEFA35-112F-043E-3952-B786902428BB}"/>
              </a:ext>
            </a:extLst>
          </p:cNvPr>
          <p:cNvSpPr txBox="1"/>
          <p:nvPr/>
        </p:nvSpPr>
        <p:spPr>
          <a:xfrm>
            <a:off x="7435858" y="4674880"/>
            <a:ext cx="4438642" cy="646331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 this context, ESN and WTF refer to the </a:t>
            </a:r>
            <a:r>
              <a:rPr lang="en-US" sz="1200" b="1" i="1" dirty="0"/>
              <a:t>preprocessor</a:t>
            </a:r>
            <a:r>
              <a:rPr lang="en-US" sz="1200" dirty="0"/>
              <a:t> </a:t>
            </a:r>
            <a:r>
              <a:rPr lang="en-US" sz="1200" b="1" i="1" dirty="0"/>
              <a:t>stages</a:t>
            </a:r>
            <a:r>
              <a:rPr lang="en-US" sz="1200" dirty="0"/>
              <a:t> of the </a:t>
            </a:r>
            <a:r>
              <a:rPr lang="en-US" sz="1200" dirty="0" err="1"/>
              <a:t>HypercubeESN</a:t>
            </a:r>
            <a:r>
              <a:rPr lang="en-US" sz="1200" dirty="0"/>
              <a:t> and </a:t>
            </a:r>
            <a:r>
              <a:rPr lang="en-US" sz="1200" dirty="0" err="1"/>
              <a:t>HypercubeWTF</a:t>
            </a:r>
            <a:r>
              <a:rPr lang="en-US" sz="1200" dirty="0"/>
              <a:t> projects; they do not refer to or insinuate use of their respective readouts.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2FB910-FB57-79C7-8A83-1D48256252AE}"/>
              </a:ext>
            </a:extLst>
          </p:cNvPr>
          <p:cNvSpPr txBox="1"/>
          <p:nvPr/>
        </p:nvSpPr>
        <p:spPr>
          <a:xfrm>
            <a:off x="8600913" y="4022729"/>
            <a:ext cx="2108532" cy="307777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decoder_err</a:t>
            </a:r>
            <a:r>
              <a:rPr lang="en-US" sz="1400" dirty="0"/>
              <a:t> = </a:t>
            </a:r>
            <a:r>
              <a:rPr lang="en-US" sz="1400" b="1" dirty="0"/>
              <a:t>o</a:t>
            </a:r>
            <a:r>
              <a:rPr lang="en-US" sz="1400" baseline="-25000" dirty="0"/>
              <a:t>n+1 </a:t>
            </a:r>
            <a:r>
              <a:rPr lang="en-US" sz="1400" dirty="0"/>
              <a:t>– </a:t>
            </a:r>
            <a:r>
              <a:rPr lang="en-US" sz="1400" b="1" dirty="0"/>
              <a:t>o’</a:t>
            </a:r>
            <a:r>
              <a:rPr lang="en-US" sz="1400" baseline="-25000" dirty="0"/>
              <a:t>n+1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BA34F2-0AE0-EF99-BFC1-EFC50C6082AB}"/>
              </a:ext>
            </a:extLst>
          </p:cNvPr>
          <p:cNvSpPr txBox="1"/>
          <p:nvPr/>
        </p:nvSpPr>
        <p:spPr>
          <a:xfrm>
            <a:off x="3416947" y="74030"/>
            <a:ext cx="52750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Concept Slide - Trajectory World Model</a:t>
            </a:r>
          </a:p>
          <a:p>
            <a:pPr algn="ctr"/>
            <a:r>
              <a:rPr lang="en-US" sz="1400" dirty="0"/>
              <a:t>latent space operates on encoded trajectories, not encoded states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072F45-A07B-EB13-EB8C-4B37134A09D1}"/>
              </a:ext>
            </a:extLst>
          </p:cNvPr>
          <p:cNvSpPr txBox="1"/>
          <p:nvPr/>
        </p:nvSpPr>
        <p:spPr>
          <a:xfrm>
            <a:off x="5192690" y="655734"/>
            <a:ext cx="172354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/>
              <a:t>Just thinking out loud.  Might be a stupid idea…</a:t>
            </a:r>
          </a:p>
        </p:txBody>
      </p:sp>
    </p:spTree>
    <p:extLst>
      <p:ext uri="{BB962C8B-B14F-4D97-AF65-F5344CB8AC3E}">
        <p14:creationId xmlns:p14="http://schemas.microsoft.com/office/powerpoint/2010/main" val="2722922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207</Words>
  <Application>Microsoft Office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Liptak</dc:creator>
  <cp:lastModifiedBy>David Liptak</cp:lastModifiedBy>
  <cp:revision>70</cp:revision>
  <cp:lastPrinted>2026-09-23T19:36:17Z</cp:lastPrinted>
  <dcterms:created xsi:type="dcterms:W3CDTF">2026-09-22T15:43:52Z</dcterms:created>
  <dcterms:modified xsi:type="dcterms:W3CDTF">2026-09-24T14:43:41Z</dcterms:modified>
</cp:coreProperties>
</file>